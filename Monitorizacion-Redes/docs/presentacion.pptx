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Zabbix</c:v>
                </c:pt>
              </c:strCache>
            </c:strRef>
          </c:tx>
          <c:spPr>
            <a:solidFill>
              <a:srgbClr val="02C39A"/>
            </a:solidFill>
            <a:ln w="25400" cap="flat">
              <a:solidFill>
                <a:srgbClr val="02C39A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Escalabilidad</c:v>
                  </c:pt>
                  <c:pt idx="1">
                    <c:v>Visualización</c:v>
                  </c:pt>
                  <c:pt idx="2">
                    <c:v>Alertado</c:v>
                  </c:pt>
                  <c:pt idx="3">
                    <c:v>Despliegue lab.</c:v>
                  </c:pt>
                  <c:pt idx="4">
                    <c:v>Personalización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4</c:v>
                </c:pt>
                <c:pt idx="4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Nagios</c:v>
                </c:pt>
              </c:strCache>
            </c:strRef>
          </c:tx>
          <c:spPr>
            <a:solidFill>
              <a:srgbClr val="065A82"/>
            </a:solidFill>
            <a:ln w="2540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Escalabilidad</c:v>
                  </c:pt>
                  <c:pt idx="1">
                    <c:v>Visualización</c:v>
                  </c:pt>
                  <c:pt idx="2">
                    <c:v>Alertado</c:v>
                  </c:pt>
                  <c:pt idx="3">
                    <c:v>Despliegue lab.</c:v>
                  </c:pt>
                  <c:pt idx="4">
                    <c:v>Personalización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</c:v>
                </c:pt>
                <c:pt idx="1">
                  <c:v>3</c:v>
                </c:pt>
                <c:pt idx="2">
                  <c:v>4</c:v>
                </c:pt>
                <c:pt idx="3">
                  <c:v>2</c:v>
                </c:pt>
                <c:pt idx="4">
                  <c:v>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Cacti</c:v>
                </c:pt>
              </c:strCache>
            </c:strRef>
          </c:tx>
          <c:spPr>
            <a:solidFill>
              <a:srgbClr val="B7C4D6"/>
            </a:solidFill>
            <a:ln w="25400" cap="flat">
              <a:solidFill>
                <a:srgbClr val="B7C4D6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B7C4D6"/>
              </a:solidFill>
              <a:ln w="9525" cap="flat">
                <a:solidFill>
                  <a:srgbClr val="B7C4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Escalabilidad</c:v>
                  </c:pt>
                  <c:pt idx="1">
                    <c:v>Visualización</c:v>
                  </c:pt>
                  <c:pt idx="2">
                    <c:v>Alertado</c:v>
                  </c:pt>
                  <c:pt idx="3">
                    <c:v>Despliegue lab.</c:v>
                  </c:pt>
                  <c:pt idx="4">
                    <c:v>Personalización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</c:v>
                </c:pt>
                <c:pt idx="1">
                  <c:v>4</c:v>
                </c:pt>
                <c:pt idx="2">
                  <c:v>2</c:v>
                </c:pt>
                <c:pt idx="3">
                  <c:v>3</c:v>
                </c:pt>
                <c:pt idx="4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1188720"/>
            <a:ext cx="1463040" cy="1005840"/>
          </a:xfrm>
          <a:prstGeom prst="line">
            <a:avLst/>
          </a:prstGeom>
          <a:noFill/>
          <a:ln w="15875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8778240" y="1188720"/>
            <a:ext cx="914400" cy="1554480"/>
          </a:xfrm>
          <a:prstGeom prst="line">
            <a:avLst/>
          </a:prstGeom>
          <a:noFill/>
          <a:ln w="15875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10607040" y="2194560"/>
            <a:ext cx="548640" cy="1828800"/>
          </a:xfrm>
          <a:prstGeom prst="line">
            <a:avLst/>
          </a:prstGeom>
          <a:noFill/>
          <a:ln w="15875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2743200"/>
            <a:ext cx="1828800" cy="1280160"/>
          </a:xfrm>
          <a:prstGeom prst="line">
            <a:avLst/>
          </a:prstGeom>
          <a:noFill/>
          <a:ln w="15875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9326880" y="4023360"/>
            <a:ext cx="1280160" cy="1097280"/>
          </a:xfrm>
          <a:prstGeom prst="line">
            <a:avLst/>
          </a:prstGeom>
          <a:noFill/>
          <a:ln w="15875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07040" y="4023360"/>
            <a:ext cx="731520" cy="1371600"/>
          </a:xfrm>
          <a:prstGeom prst="line">
            <a:avLst/>
          </a:prstGeom>
          <a:noFill/>
          <a:ln w="15875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2743200"/>
            <a:ext cx="548640" cy="2377440"/>
          </a:xfrm>
          <a:prstGeom prst="line">
            <a:avLst/>
          </a:prstGeom>
          <a:noFill/>
          <a:ln w="15875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28632" y="1124712"/>
            <a:ext cx="128016" cy="128016"/>
          </a:xfrm>
          <a:prstGeom prst="ellipse">
            <a:avLst/>
          </a:prstGeom>
          <a:solidFill>
            <a:srgbClr val="02C39A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091672" y="2130552"/>
            <a:ext cx="128016" cy="128016"/>
          </a:xfrm>
          <a:prstGeom prst="ellipse">
            <a:avLst/>
          </a:prstGeom>
          <a:solidFill>
            <a:srgbClr val="02C39A">
              <a:alpha val="7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714232" y="2679192"/>
            <a:ext cx="128016" cy="128016"/>
          </a:xfrm>
          <a:prstGeom prst="ellipse">
            <a:avLst/>
          </a:prstGeom>
          <a:solidFill>
            <a:srgbClr val="02C39A">
              <a:alpha val="7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543032" y="3959352"/>
            <a:ext cx="128016" cy="128016"/>
          </a:xfrm>
          <a:prstGeom prst="ellipse">
            <a:avLst/>
          </a:prstGeom>
          <a:solidFill>
            <a:srgbClr val="02C39A">
              <a:alpha val="7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262872" y="5056632"/>
            <a:ext cx="128016" cy="128016"/>
          </a:xfrm>
          <a:prstGeom prst="ellipse">
            <a:avLst/>
          </a:prstGeom>
          <a:solidFill>
            <a:srgbClr val="02C39A">
              <a:alpha val="7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274552" y="5330952"/>
            <a:ext cx="128016" cy="128016"/>
          </a:xfrm>
          <a:prstGeom prst="ellipse">
            <a:avLst/>
          </a:prstGeom>
          <a:solidFill>
            <a:srgbClr val="02C39A">
              <a:alpha val="7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371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M0379 · ASIX2 · Miniproyecto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1828800"/>
            <a:ext cx="7680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Monitorización de Red en Laboratorio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40080" y="333756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Despliegue, políticas y validación de Zabbix sobre Docker Compose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0080" y="42976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098" y="4441698"/>
            <a:ext cx="352044" cy="35204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508760" y="437083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seleccionada: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Zabbix 7.4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Despliegue: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y enfoque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Implantar y documentar una plataforma de monitorización de red en un laboratorio aislado, con trazabilidad y evidencias en cada fase.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08660" y="2468880"/>
            <a:ext cx="2514600" cy="283464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8700" y="283464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3005" y="298894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8700" y="37033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Disponibilidad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28700" y="420624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¿Está vivo el host o servicio?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51860" y="2468880"/>
            <a:ext cx="2514600" cy="283464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771900" y="283464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6205" y="2988945"/>
            <a:ext cx="377190" cy="3771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71900" y="37033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Capacidad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771900" y="420624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memoria y disco bajo control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95060" y="2468880"/>
            <a:ext cx="2514600" cy="283464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15100" y="2834640"/>
            <a:ext cx="685800" cy="6858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9405" y="2988945"/>
            <a:ext cx="377190" cy="3771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15100" y="37033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Rendimiento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515100" y="420624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Tendencias que anticipan saturación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938260" y="2468880"/>
            <a:ext cx="2514600" cy="283464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258300" y="283464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2605" y="2988945"/>
            <a:ext cx="377190" cy="3771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58300" y="37033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Servicios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9258300" y="420624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y puertos críticos del laboratorio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40080" y="5486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dimensiones de monitorización trabajadas en el laboratorio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Selección de la herramienta: Zabbix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ponderada entre Zabbix, Nagios y Cacti sobre los criterios relevantes para el laboratorio (docs/comparativa-herramientas.md)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54864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355080" y="18745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Zabbix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355080" y="2423160"/>
            <a:ext cx="5212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equilibrio entre escalabilidad, dashboards nativos y alertado out-of-the-box.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y descubrimiento que aceleran la puesta en marcha del laboratorio.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Nagios exige más ensamblaje operativo; Cacti queda por detrás en alertado y automatización integral.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355080" y="4617720"/>
            <a:ext cx="5212080" cy="14173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8" name="Shape 5"/>
          <p:cNvSpPr/>
          <p:nvPr/>
        </p:nvSpPr>
        <p:spPr>
          <a:xfrm>
            <a:off x="6675120" y="489204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573" y="5087493"/>
            <a:ext cx="477774" cy="47777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0" y="498348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ejecutiva: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Zabbix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mejor cobertura funcional nativa para el alcance del laboratorio.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Arquitectura: stack en Docker Compose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componente de Zabbix en su propio contenedor, conectados por la red interna “zabbix-net” y resueltos por nombre de servicio — sin VM ni gestión manual de paquetes.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965960" cy="1554480"/>
          </a:xfrm>
          <a:prstGeom prst="rect">
            <a:avLst/>
          </a:prstGeom>
          <a:solidFill>
            <a:srgbClr val="2C376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6060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272948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57860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Navegador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68680" y="315468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operador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606040" y="3154680"/>
            <a:ext cx="292608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898648" y="2377440"/>
            <a:ext cx="1965960" cy="1554480"/>
          </a:xfrm>
          <a:prstGeom prst="rect">
            <a:avLst/>
          </a:prstGeom>
          <a:solidFill>
            <a:srgbClr val="2C376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127248" y="26060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0692" y="2729484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67328" y="257860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zabbix-web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3127248" y="315468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+ PHP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(frontend)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864608" y="3154680"/>
            <a:ext cx="292608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5157216" y="2377440"/>
            <a:ext cx="1965960" cy="1554480"/>
          </a:xfrm>
          <a:prstGeom prst="rect">
            <a:avLst/>
          </a:prstGeom>
          <a:solidFill>
            <a:srgbClr val="2C376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385816" y="26060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9260" y="2729484"/>
            <a:ext cx="301752" cy="30175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025896" y="257860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zabbix-server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385816" y="315468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 triggers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eventos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7123176" y="3154680"/>
            <a:ext cx="292608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7415784" y="2377440"/>
            <a:ext cx="1965960" cy="1554480"/>
          </a:xfrm>
          <a:prstGeom prst="rect">
            <a:avLst/>
          </a:prstGeom>
          <a:solidFill>
            <a:srgbClr val="2C376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644384" y="26060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7828" y="2729484"/>
            <a:ext cx="301752" cy="30175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284464" y="257860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mysql-server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7644384" y="315468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(persistencia)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9381744" y="3154680"/>
            <a:ext cx="292608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9674352" y="2377440"/>
            <a:ext cx="1965960" cy="1554480"/>
          </a:xfrm>
          <a:prstGeom prst="rect">
            <a:avLst/>
          </a:prstGeom>
          <a:solidFill>
            <a:srgbClr val="2C376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9902952" y="26060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6396" y="2729484"/>
            <a:ext cx="301752" cy="30175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0543032" y="257860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zabbix-agent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9902952" y="315468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Recoge métricas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host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640080" y="4160520"/>
            <a:ext cx="10881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servicios + 1 inicializador one-shot (zabbix-init) que corrige por SQL la interfaz del agente precargada por la imagen oficial.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mediante volúmenes con nombre (db_data, zbx_alertscripts, zbx_externalscripts) — sobrevive a docker compose down.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Arranque ordenado de forma declarativa con depends_on + healthcheck, sin intervención manual.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Instalación: desplegado y validado con datos reales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-d levanta el stack completo; el host queda visible y enviando métricas en Monitoring → Latest data.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606040" cy="173736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542032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47472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+ 1 init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docker-compose.yml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02152" y="2377440"/>
            <a:ext cx="2606040" cy="173736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02152" y="2542032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7.4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685032" y="347472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de Zabbix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(imágenes oficiales Alpine)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64224" y="2377440"/>
            <a:ext cx="2606040" cy="173736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2542032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547104" y="347472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puertos publicados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8080 · 10051 · 10050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226296" y="2377440"/>
            <a:ext cx="2606040" cy="173736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26296" y="2542032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409176" y="347472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 instalación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 en vivo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434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esperado verificado en el despliegue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493776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971" y="4981651"/>
            <a:ext cx="204826" cy="20482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078992" y="4901184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ps → 4 servicios running/healthy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40080" y="532180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71" y="5365699"/>
            <a:ext cx="204826" cy="20482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078992" y="528523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accesible en http://localhost:8080 y contraseña de Admin cambiada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640080" y="5705856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71" y="5749747"/>
            <a:ext cx="204826" cy="20482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078992" y="5669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“Zabbix server” visible y enviando datos en Monitoring → Latest data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640080" y="6089904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971" y="6133795"/>
            <a:ext cx="204826" cy="20482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78992" y="605332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Puertos 10051/10050 escuchando en el host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Políticas de monitorización: umbrales y severidades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 “Laboratorio - Umbrales Base”, extensión de “Linux by Zabbix agent” — evaluada en ventanas de 5 min para filtrar picos sin significado operativo.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881360" cy="2834640"/>
        </p:xfrm>
        <a:graphic>
          <a:graphicData uri="http://schemas.openxmlformats.org/drawingml/2006/table">
            <a:tbl>
              <a:tblPr/>
              <a:tblGrid>
                <a:gridCol w="2377440"/>
                <a:gridCol w="1645920"/>
                <a:gridCol w="1737360"/>
                <a:gridCol w="51206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Racional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Carga de CPU (avg1)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1.5 (5 min)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3 (5 min)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Cola de procesos vs. saturación clara en host de 1 vCPU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Memoria disponible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20 % (5 min)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10 % (5 min)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Margen de actuación antes del riesgo de OOM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Espacio libre en /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20 %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 estable: valor puntual ya es representativo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Disponibilidad agente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 no disponible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Nativa de Zabbix tras varios sondeos fallidos consecutivos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166360"/>
            <a:ext cx="548640" cy="548640"/>
          </a:xfrm>
          <a:prstGeom prst="ellipse">
            <a:avLst/>
          </a:prstGeom>
          <a:solidFill>
            <a:srgbClr val="F2A34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5289804"/>
            <a:ext cx="301752" cy="3017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52120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niveles de severidad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(Warning / High) son suficientes para demostrar el escalado en un laboratorio de prueba de concepto sin sobrecargar la matriz de pruebas.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 umbrales provisionales — ajuste final pendiente de docs/validacion-pruebas.md (histórico de ajustes en docs/politicas-monitorizacion.md)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Personalización: chequeos propios vía UserParameters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scripts en scripts/checks/ extienden la recolección estándar para cubrir lo que la plantilla del sistema operativo no ve.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5257800" cy="324612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4231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58775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56032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check_tcp_port.sh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05840" y="3383280"/>
            <a:ext cx="4526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 si un puerto TCP está abierto y mide la latencia de conexión. Genérico y parametrizable: cubre cualquier servicio o dispositivo de red simulado sin duplicar scripts.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005840" y="4754880"/>
            <a:ext cx="4526280" cy="4572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" y="475488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lab.tcp.check[zabbix-web,8080,2] → status=up;latency_ms=12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263640" y="2057400"/>
            <a:ext cx="5257800" cy="324612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629400" y="2423160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2587752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43800" y="256032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check_log_errors.sh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629400" y="3383280"/>
            <a:ext cx="4526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líneas que coinciden con un patrón de error en un log dentro de una ventana temporal. Detecta problemas funcionales que CPU/memoria/disco no reflejan.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629400" y="4754880"/>
            <a:ext cx="4526280" cy="4572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7" name="Text 13"/>
          <p:cNvSpPr/>
          <p:nvPr/>
        </p:nvSpPr>
        <p:spPr>
          <a:xfrm>
            <a:off x="6766560" y="475488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lab.log.errors[server.log,ERROR|CRITICAL,300] → 0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640080" y="54864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Integración: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UserParameter declarado en config/zabbix/userparameters.conf.example → alta de items en el frontend → triggers coherentes con las severidades de docs/politicas-monitorizacion.md.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Dashboard: “Laboratorio - Estado General”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“de lo general a lo concreto”: arriba el semáforo de problemas y disponibilidad, abajo el detalle de rendimiento histórico.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520440" cy="1554480"/>
          </a:xfrm>
          <a:prstGeom prst="rect">
            <a:avLst/>
          </a:prstGeom>
          <a:solidFill>
            <a:srgbClr val="2C376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94560"/>
            <a:ext cx="82296" cy="1554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5915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276148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en vivo de incidencias activas con severidad y etiquetas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34840" y="2194560"/>
            <a:ext cx="3520440" cy="1554480"/>
          </a:xfrm>
          <a:prstGeom prst="rect">
            <a:avLst/>
          </a:prstGeom>
          <a:solidFill>
            <a:srgbClr val="2C376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2194560"/>
            <a:ext cx="82296" cy="1554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235915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Problems by severity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09160" y="276148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Recuento agrupado Warning / High — vistazo del estado global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0" y="2194560"/>
            <a:ext cx="3520440" cy="1554480"/>
          </a:xfrm>
          <a:prstGeom prst="rect">
            <a:avLst/>
          </a:prstGeom>
          <a:solidFill>
            <a:srgbClr val="2C376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2194560"/>
            <a:ext cx="82296" cy="1554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235915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 availability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503920" y="276148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del host “Zabbix server” (verde / rojo)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977640"/>
            <a:ext cx="3520440" cy="1554480"/>
          </a:xfrm>
          <a:prstGeom prst="rect">
            <a:avLst/>
          </a:prstGeom>
          <a:solidFill>
            <a:srgbClr val="2C376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977640"/>
            <a:ext cx="82296" cy="1554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14223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— CPU load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14400" y="454456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de la carga frente a los umbrales 1.5 / 3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34840" y="3977640"/>
            <a:ext cx="3520440" cy="1554480"/>
          </a:xfrm>
          <a:prstGeom prst="rect">
            <a:avLst/>
          </a:prstGeom>
          <a:solidFill>
            <a:srgbClr val="2C376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34840" y="3977640"/>
            <a:ext cx="82296" cy="1554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414223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— Memoria disponible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709160" y="454456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 frente a los umbrales 20 % / 10 %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29600" y="3977640"/>
            <a:ext cx="3520440" cy="1554480"/>
          </a:xfrm>
          <a:prstGeom prst="rect">
            <a:avLst/>
          </a:prstGeom>
          <a:solidFill>
            <a:srgbClr val="2C376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3977640"/>
            <a:ext cx="82296" cy="1554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14223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— Espacio en disco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503920" y="454456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 del espacio libre en la partición raíz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Refresco 30s–1min · Informe semanal programable (Reports → Scheduled reports) — diseño listo, envío sujeto a disponer de SMTP en el laboratorio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Validación: tres escenarios de incidencia controlada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 detallado y herramientas listas (scripts/utils/generar-carga-cpu.sh) para provocar y observar la respuesta del sistema de alertado.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474720" cy="333756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514600"/>
            <a:ext cx="685800" cy="6858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425" y="266890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3375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Caída de servicio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960120" y="3840480"/>
            <a:ext cx="2834640" cy="5029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9" name="Text 6"/>
          <p:cNvSpPr/>
          <p:nvPr/>
        </p:nvSpPr>
        <p:spPr>
          <a:xfrm>
            <a:off x="1051560" y="38404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stop zabbix-agent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60120" y="452628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pasa a “no disponible” y se genera el problema de agente inalcanzable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434840" y="2194560"/>
            <a:ext cx="3474720" cy="333756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2514600"/>
            <a:ext cx="685800" cy="6858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185" y="2668905"/>
            <a:ext cx="377190" cy="37719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54880" y="33375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Sobrecarga de CPU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4754880" y="3840480"/>
            <a:ext cx="2834640" cy="5029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6" name="Text 12"/>
          <p:cNvSpPr/>
          <p:nvPr/>
        </p:nvSpPr>
        <p:spPr>
          <a:xfrm>
            <a:off x="4846320" y="38404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scripts/utils/generar-carga-cpu.sh 360 2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754880" y="452628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dispara “CPU load alto/critico” al superar la media de 5 minutos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229600" y="2194560"/>
            <a:ext cx="3474720" cy="333756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549640" y="251460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3945" y="2668905"/>
            <a:ext cx="377190" cy="37719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549640" y="33375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 inaccesible</a:t>
            </a:r>
            <a:endParaRPr lang="en-US" sz="1550" dirty="0"/>
          </a:p>
        </p:txBody>
      </p:sp>
      <p:sp>
        <p:nvSpPr>
          <p:cNvPr id="22" name="Shape 17"/>
          <p:cNvSpPr/>
          <p:nvPr/>
        </p:nvSpPr>
        <p:spPr>
          <a:xfrm>
            <a:off x="8549640" y="3840480"/>
            <a:ext cx="2834640" cy="5029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3" name="Text 18"/>
          <p:cNvSpPr/>
          <p:nvPr/>
        </p:nvSpPr>
        <p:spPr>
          <a:xfrm>
            <a:off x="8641080" y="38404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network disconnect zabbix-net zabbix-agent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8549640" y="452628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Zabbix detecta la pérdida de conectividad de red y genera el problema asociado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40080" y="57607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 y herramientas listos en docs/validacion-pruebas.md — ejecución y captura de evidencias programadas como siguiente sesión sobre el stack en marcha.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Lecciones aprendidas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5486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de “VM + systemd” a Docker Compose redujo la fricción de puesta en marcha y dejó más tiempo para el objetivo real: entender la herramienta.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valores por defecto de las imágenes oficiales no siempre encajan en despliegues multi-contenedor (interfaz del agente apuntando a 127.0.0.1) — se resolvió con un init container idempotente.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políticas antes de tener datos reales obliga, con razón, a marcarlas como “provisionales” y a dejar trazabilidad de los ajustes.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46520" y="13716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Líneas de mejora futura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46520" y="1993392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9677" y="2106549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0" y="1975104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a varios hosts/dispositivos simulados (SNMP, plantillas de aplicación)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46520" y="2770632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9677" y="2883789"/>
            <a:ext cx="276606" cy="27660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32320" y="2752344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el ciclo de validación y ajustar umbrales con datos reales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46520" y="3547872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9677" y="3661029"/>
            <a:ext cx="276606" cy="27660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32320" y="3529584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Añadir severidad Disaster y un media type real para informes periódicos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446520" y="4325112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9677" y="4438269"/>
            <a:ext cx="276606" cy="27660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132320" y="4306824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HTTPS mediante proxy inverso con TLS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280160" y="914400"/>
            <a:ext cx="1463040" cy="548640"/>
          </a:xfrm>
          <a:prstGeom prst="line">
            <a:avLst/>
          </a:prstGeom>
          <a:noFill/>
          <a:ln w="15875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0" y="1463040"/>
            <a:ext cx="731520" cy="914400"/>
          </a:xfrm>
          <a:prstGeom prst="line">
            <a:avLst/>
          </a:prstGeom>
          <a:noFill/>
          <a:ln w="15875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914400"/>
            <a:ext cx="914400" cy="1280160"/>
          </a:xfrm>
          <a:prstGeom prst="line">
            <a:avLst/>
          </a:prstGeom>
          <a:noFill/>
          <a:ln w="15875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2011680" y="2194560"/>
            <a:ext cx="1645920" cy="182880"/>
          </a:xfrm>
          <a:prstGeom prst="line">
            <a:avLst/>
          </a:prstGeom>
          <a:noFill/>
          <a:ln w="15875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914400" y="2377440"/>
            <a:ext cx="1097280" cy="731520"/>
          </a:xfrm>
          <a:prstGeom prst="line">
            <a:avLst/>
          </a:prstGeom>
          <a:noFill/>
          <a:ln w="15875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25296" y="1408176"/>
            <a:ext cx="109728" cy="109728"/>
          </a:xfrm>
          <a:prstGeom prst="ellipse">
            <a:avLst/>
          </a:prstGeom>
          <a:solidFill>
            <a:srgbClr val="02C39A">
              <a:alpha val="7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688336" y="859536"/>
            <a:ext cx="109728" cy="109728"/>
          </a:xfrm>
          <a:prstGeom prst="ellipse">
            <a:avLst/>
          </a:prstGeom>
          <a:solidFill>
            <a:srgbClr val="02C39A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956816" y="2322576"/>
            <a:ext cx="109728" cy="109728"/>
          </a:xfrm>
          <a:prstGeom prst="ellipse">
            <a:avLst/>
          </a:prstGeom>
          <a:solidFill>
            <a:srgbClr val="02C39A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602736" y="2139696"/>
            <a:ext cx="109728" cy="109728"/>
          </a:xfrm>
          <a:prstGeom prst="ellipse">
            <a:avLst/>
          </a:prstGeom>
          <a:solidFill>
            <a:srgbClr val="02C39A">
              <a:alpha val="7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59536" y="3054096"/>
            <a:ext cx="109728" cy="109728"/>
          </a:xfrm>
          <a:prstGeom prst="ellipse">
            <a:avLst/>
          </a:prstGeom>
          <a:solidFill>
            <a:srgbClr val="02C39A">
              <a:alpha val="7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20624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40080" y="51663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y evidencias completas en docs/ — memoria, arquitectura, instalación, políticas, dashboards, validación y conclusiones.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6400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Monitorización de Red en Laboratorio · M0379 ASIX2 · Zabbix sobre Docker Compose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Monitorización de Red en Laboratorio — Zabbix (M0379 ASIX2)</dc:title>
  <dc:subject>PptxGenJS Presentation</dc:subject>
  <dc:creator>Denis</dc:creator>
  <cp:lastModifiedBy>Denis</cp:lastModifiedBy>
  <cp:revision>1</cp:revision>
  <dcterms:created xsi:type="dcterms:W3CDTF">2026-06-08T11:35:55Z</dcterms:created>
  <dcterms:modified xsi:type="dcterms:W3CDTF">2026-06-08T11:35:55Z</dcterms:modified>
</cp:coreProperties>
</file>